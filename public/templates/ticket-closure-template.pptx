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940" autoAdjust="0"/>
    <p:restoredTop sz="94686"/>
  </p:normalViewPr>
  <p:slideViewPr>
    <p:cSldViewPr snapToGrid="0">
      <p:cViewPr varScale="1">
        <p:scale>
          <a:sx n="70" d="100"/>
          <a:sy n="70" d="100"/>
        </p:scale>
        <p:origin x="59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A7D2E77-855C-8E85-5DE0-E8C389BCC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D2869DF7-85B9-A303-324B-0EB78BC71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225985A-D42E-25BC-83F6-FB4E3F8E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060521C-6135-23A1-F439-62668DE1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0F30E3B-43C3-B67D-63DE-EBC5DEC9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484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22E8B5-67EB-41FC-94F8-CDA09C4C2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84F9032-EB63-0E30-9917-8C82680B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A16F4D8-3567-416C-84A4-30985096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5273BFF-1D1F-A2F9-4A55-F770A3D2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26D1DD1-74CD-B8F3-25AE-2D1DCD0A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108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E4462E6-73EE-0A7E-5933-A3A13561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86E3F8A-5103-4309-C3FA-7D076256D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7A7D4CF-5997-F813-7CD5-FB1A8523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AA47EAC-9092-C548-E6BC-5A436C39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C2A6EE6-D4D4-DA8A-CEF8-78645448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6672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F09674-FA9E-D917-8B70-8D3BBD9F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D97F3E7-A65D-10EF-B70F-025F8A8D4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2F30492-21CB-FB57-C6A8-02361604B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1170C58-FAD5-851B-937B-FA2FDDBE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3303AE0-6C6E-EABB-4AFF-8E23A9A1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A40A397-DB9F-AA2F-C42B-77C7261D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9701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0DC443-8FD5-53F0-D109-CF4597D5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169EB05-7350-AF5A-6D05-71DEF9FD9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969251D-63C5-2B92-8427-52AFACC6B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C37CE582-6310-ED32-CDB1-A1F33499D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1194A426-A5A6-3DAB-856D-94932489B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634DC49C-7160-D88A-2E10-4C45F020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CC907FB-434F-A792-E8E1-448F044C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7FCCE06C-F5B3-8989-4A97-EE08CDB8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6160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6F3D872-89E0-CA14-AC3E-68ECFA69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DBB568B-965D-73A5-742F-4B7B71BC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FB140844-AABF-DCC6-B8D9-D591BE82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0DFCF7B-03F5-2FF2-425D-3928CDE16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041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1296394-41A7-B081-B8A8-20781508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C429B40F-E7AD-777B-FDF5-4D11763D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08E1534-FF06-58BF-A44E-3C60ECDC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4922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274694-70E5-DA78-7300-BD4785C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D8FDB60-0C0C-24F6-1A55-53ACB8784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8049AED-DF3A-EE0B-0943-F969770A4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F02E651-8670-0574-CCDA-D77779D8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826F7CF-E72F-41C1-D18E-74C0C56C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CB26546-0F5A-6253-DFC6-06575C63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6417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719CE3A-1C36-6547-77F3-1C7E39AF3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1C69B917-C4F5-DADE-9B3C-3B2329B9B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A6AF6C2-A971-0B9C-6BF0-1F0C852A0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F0E95C0-3C9F-9BEE-405A-D0DDE367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1099F5F-42F4-72FE-3541-84208DE0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0894B610-F2B9-7090-783B-5189715E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9677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2766EF-BF20-05AF-3766-4EFE436D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4911421-D6F0-B6EE-9847-51FB74817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D46C339-144D-21E4-464C-4E1C9DE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41C1A54-5974-6B68-684A-5999DF33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02BE545-1AF9-C434-5E1C-B2BB49E9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845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3A027F54-1F3D-DB20-46B3-B81FE6D45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05C127B-751D-7EFC-183B-36012C21E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3E54C5F-ACAD-E0B7-C36A-4D37EA26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EE91AF9-EC71-C222-E59A-575412F4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CA24894-22AF-F9FC-24BB-91C62A1C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959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E7D0239-3411-1368-CAC4-90F2A4D2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DF77636-96B9-DF63-348A-443F42220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F165753-F9AB-586F-A87A-42BA34B1F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8AAA7-1233-3744-BFE5-51688738CA45}" type="datetimeFigureOut">
              <a:rPr lang="ar-SA" smtClean="0"/>
              <a:t>02/03/47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506DF5-68D4-8C2C-4A86-4932A63BB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FF5DACC-C95E-9F43-FDD0-DD5FB8061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80CB9-034A-D340-ADD5-4062332F085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2392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5;p13">
            <a:extLst>
              <a:ext uri="{FF2B5EF4-FFF2-40B4-BE49-F238E27FC236}">
                <a16:creationId xmlns:a16="http://schemas.microsoft.com/office/drawing/2014/main" id="{FEA0E2C0-A215-8BBB-0B15-0C41A8FBABCC}"/>
              </a:ext>
            </a:extLst>
          </p:cNvPr>
          <p:cNvSpPr txBox="1"/>
          <p:nvPr/>
        </p:nvSpPr>
        <p:spPr>
          <a:xfrm>
            <a:off x="1654896" y="1124692"/>
            <a:ext cx="976218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dirty="0">
                <a:solidFill>
                  <a:srgbClr val="FF0000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ملاحظة " هذا </a:t>
            </a:r>
            <a:r>
              <a:rPr lang="ar-SA" sz="2000" b="1" dirty="0" err="1">
                <a:solidFill>
                  <a:srgbClr val="FF0000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السلايد</a:t>
            </a:r>
            <a:r>
              <a:rPr lang="ar-SA" sz="2000" b="1" dirty="0">
                <a:solidFill>
                  <a:srgbClr val="FF0000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 فقط للتعليمات كرما حذفه فور الانتهاء من اعداد الخطة التصحيحية "</a:t>
            </a:r>
            <a:endParaRPr sz="2000" b="1" i="0" u="none" strike="noStrike" cap="none" dirty="0">
              <a:solidFill>
                <a:srgbClr val="FF0000"/>
              </a:solidFill>
              <a:latin typeface="A Jannat LT" panose="01000000000000000000" pitchFamily="2" charset="-78"/>
              <a:ea typeface="GE SS Unique Bold" panose="020A0503020102020204" pitchFamily="18" charset="-78"/>
              <a:cs typeface="A Jannat LT" panose="01000000000000000000" pitchFamily="2" charset="-78"/>
              <a:sym typeface="Arial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D8236C22-F526-7345-3A4D-CC4B51AF7C44}"/>
              </a:ext>
            </a:extLst>
          </p:cNvPr>
          <p:cNvSpPr txBox="1"/>
          <p:nvPr/>
        </p:nvSpPr>
        <p:spPr>
          <a:xfrm>
            <a:off x="954018" y="2366074"/>
            <a:ext cx="10203050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1- كرما اعتماد الخط الخاص بهوية التجمع والصحة القابضة " خط جنان ومرفق لكم الخط "</a:t>
            </a:r>
          </a:p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2- كرما الانتباه للنسق وترتيبه ليظهر بشكل لائق ومرتب كما هو موضح لكم في اعداد الخطة التصحيحية </a:t>
            </a:r>
          </a:p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3- كرما ادراج رقم التذكرة وعنوانها واسم المنشأة بشكل واضح باللون الأسود كما موضح في صفحة البينات </a:t>
            </a:r>
          </a:p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4-كرما تغيير اسم الملف بعنوان التذكرة واسم المنشأة مثال ( مركز صحي عبد المنعم الراشد – تجربة مريض )</a:t>
            </a:r>
          </a:p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5- كل ملاحظة تكون في شريحة لوحدها </a:t>
            </a:r>
          </a:p>
          <a:p>
            <a:r>
              <a:rPr lang="ar-SA" dirty="0">
                <a:latin typeface="A Jannat LT" panose="01000000000000000000" pitchFamily="2" charset="-78"/>
                <a:cs typeface="A Jannat LT" panose="01000000000000000000" pitchFamily="2" charset="-78"/>
              </a:rPr>
              <a:t>6- ارفاق ما يثبت لكل ملاحظة .</a:t>
            </a:r>
          </a:p>
          <a:p>
            <a:endParaRPr lang="ar-SA" dirty="0">
              <a:latin typeface="A Jannat LT" panose="01000000000000000000" pitchFamily="2" charset="-78"/>
              <a:cs typeface="A Jannat LT" panose="01000000000000000000" pitchFamily="2" charset="-78"/>
            </a:endParaRPr>
          </a:p>
        </p:txBody>
      </p:sp>
      <p:graphicFrame>
        <p:nvGraphicFramePr>
          <p:cNvPr id="6" name="عنصر 5">
            <a:extLst>
              <a:ext uri="{FF2B5EF4-FFF2-40B4-BE49-F238E27FC236}">
                <a16:creationId xmlns:a16="http://schemas.microsoft.com/office/drawing/2014/main" id="{BE74CC21-0FE1-2779-7845-13B8E314E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952559"/>
              </p:ext>
            </p:extLst>
          </p:nvPr>
        </p:nvGraphicFramePr>
        <p:xfrm>
          <a:off x="5415513" y="4861514"/>
          <a:ext cx="2240953" cy="8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375679" imgH="520492" progId="Package">
                  <p:embed/>
                </p:oleObj>
              </mc:Choice>
              <mc:Fallback>
                <p:oleObj name="Packager Shell Object" showAsIcon="1" r:id="rId2" imgW="1375679" imgH="520492" progId="Package">
                  <p:embed/>
                  <p:pic>
                    <p:nvPicPr>
                      <p:cNvPr id="10" name="عنصر 9">
                        <a:extLst>
                          <a:ext uri="{FF2B5EF4-FFF2-40B4-BE49-F238E27FC236}">
                            <a16:creationId xmlns:a16="http://schemas.microsoft.com/office/drawing/2014/main" id="{D6A3982E-98F5-1972-7E14-87126AE06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5513" y="4861514"/>
                        <a:ext cx="2240953" cy="84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مربع نص 6">
            <a:extLst>
              <a:ext uri="{FF2B5EF4-FFF2-40B4-BE49-F238E27FC236}">
                <a16:creationId xmlns:a16="http://schemas.microsoft.com/office/drawing/2014/main" id="{484FAB3A-22F5-6AA8-517E-7C0E7231E552}"/>
              </a:ext>
            </a:extLst>
          </p:cNvPr>
          <p:cNvSpPr txBox="1"/>
          <p:nvPr/>
        </p:nvSpPr>
        <p:spPr>
          <a:xfrm>
            <a:off x="5415513" y="4275421"/>
            <a:ext cx="178110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200" b="1" dirty="0">
                <a:solidFill>
                  <a:srgbClr val="FF0000"/>
                </a:solidFill>
                <a:latin typeface="A Jannat LT" panose="01000000000000000000" pitchFamily="2" charset="-78"/>
                <a:cs typeface="A Jannat LT" panose="01000000000000000000" pitchFamily="2" charset="-78"/>
              </a:rPr>
              <a:t>خط جنان</a:t>
            </a:r>
          </a:p>
        </p:txBody>
      </p:sp>
    </p:spTree>
    <p:extLst>
      <p:ext uri="{BB962C8B-B14F-4D97-AF65-F5344CB8AC3E}">
        <p14:creationId xmlns:p14="http://schemas.microsoft.com/office/powerpoint/2010/main" val="189360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66F3-977D-A87C-4C21-F9E03001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E3882AD5-6E27-ACC3-D49C-536BD0BD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080" y="291678"/>
            <a:ext cx="2611999" cy="923298"/>
          </a:xfrm>
          <a:prstGeom prst="rect">
            <a:avLst/>
          </a:prstGeom>
        </p:spPr>
      </p:pic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96B05A1B-72FB-0F04-11C4-D13D8E51B3F4}"/>
              </a:ext>
            </a:extLst>
          </p:cNvPr>
          <p:cNvSpPr txBox="1"/>
          <p:nvPr/>
        </p:nvSpPr>
        <p:spPr>
          <a:xfrm>
            <a:off x="211810" y="1434312"/>
            <a:ext cx="1192336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18755"/>
              </a:buClr>
              <a:buSzPts val="2800"/>
              <a:buNone/>
            </a:pPr>
            <a:r>
              <a:rPr lang="ar-SA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</a:rPr>
              <a:t>خطة العمل التصحيحية للملاحظات المرصودة في تقرير الزائر السري للزيارة : </a:t>
            </a:r>
            <a:r>
              <a:rPr lang="ar-SA" sz="2000" b="1" dirty="0">
                <a:latin typeface="A Jannat LT" panose="01000000000000000000" pitchFamily="2" charset="-78"/>
                <a:cs typeface="A Jannat LT" panose="01000000000000000000" pitchFamily="2" charset="-78"/>
              </a:rPr>
              <a:t>(  الزيارة - يحدد رقم الزيارة هنا )</a:t>
            </a:r>
            <a:endParaRPr sz="2000" b="1" dirty="0">
              <a:latin typeface="A Jannat LT" panose="01000000000000000000" pitchFamily="2" charset="-78"/>
              <a:cs typeface="A Jannat LT" panose="01000000000000000000" pitchFamily="2" charset="-78"/>
            </a:endParaRPr>
          </a:p>
        </p:txBody>
      </p:sp>
      <p:sp>
        <p:nvSpPr>
          <p:cNvPr id="4" name="Google Shape;95;p13">
            <a:extLst>
              <a:ext uri="{FF2B5EF4-FFF2-40B4-BE49-F238E27FC236}">
                <a16:creationId xmlns:a16="http://schemas.microsoft.com/office/drawing/2014/main" id="{C058DA37-5B0A-7578-2128-270BEFE58B30}"/>
              </a:ext>
            </a:extLst>
          </p:cNvPr>
          <p:cNvSpPr txBox="1"/>
          <p:nvPr/>
        </p:nvSpPr>
        <p:spPr>
          <a:xfrm>
            <a:off x="4877073" y="2607934"/>
            <a:ext cx="56689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اسم </a:t>
            </a:r>
            <a:r>
              <a:rPr lang="ar-SA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المنشأة</a:t>
            </a:r>
            <a:r>
              <a:rPr lang="en-US" b="1" i="0" u="none" strike="noStrike" cap="none" dirty="0">
                <a:solidFill>
                  <a:srgbClr val="018755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: </a:t>
            </a:r>
            <a:r>
              <a:rPr lang="ar-SA" b="1" i="0" u="none" strike="noStrike" cap="none" dirty="0">
                <a:solidFill>
                  <a:srgbClr val="018755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 </a:t>
            </a:r>
            <a:r>
              <a:rPr lang="ar-SA" b="1" i="0" u="none" strike="noStrike" cap="none" dirty="0">
                <a:solidFill>
                  <a:schemeClr val="tx1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(يضاف اسم المنشأة هنا باللون الأسود  ) .</a:t>
            </a:r>
          </a:p>
        </p:txBody>
      </p:sp>
      <p:pic>
        <p:nvPicPr>
          <p:cNvPr id="5" name="Google Shape;113;p15">
            <a:extLst>
              <a:ext uri="{FF2B5EF4-FFF2-40B4-BE49-F238E27FC236}">
                <a16:creationId xmlns:a16="http://schemas.microsoft.com/office/drawing/2014/main" id="{103668ED-5F62-500C-502F-682E7B1D3196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452995" y="2640800"/>
            <a:ext cx="537825" cy="683175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7F697115-2B1C-B289-D607-6B522AD97387}"/>
              </a:ext>
            </a:extLst>
          </p:cNvPr>
          <p:cNvSpPr txBox="1"/>
          <p:nvPr/>
        </p:nvSpPr>
        <p:spPr>
          <a:xfrm>
            <a:off x="4342510" y="3639267"/>
            <a:ext cx="6106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رقم التذكرة : </a:t>
            </a:r>
            <a:r>
              <a:rPr lang="ar-SA" b="1" i="0" u="none" strike="noStrike" cap="none" dirty="0"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( يضاف رقم التذكرة باللون الأسود )</a:t>
            </a:r>
            <a:endParaRPr lang="ar-SA" b="1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7B3161B-4F85-F94E-998D-507DA43D3708}"/>
              </a:ext>
            </a:extLst>
          </p:cNvPr>
          <p:cNvSpPr txBox="1"/>
          <p:nvPr/>
        </p:nvSpPr>
        <p:spPr>
          <a:xfrm>
            <a:off x="409135" y="4527766"/>
            <a:ext cx="1003970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i="0" u="none" strike="noStrike" cap="none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عنوان التذكرة :  </a:t>
            </a:r>
            <a:r>
              <a:rPr lang="ar-SA" b="1" dirty="0">
                <a:solidFill>
                  <a:schemeClr val="tx1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(</a:t>
            </a:r>
            <a:r>
              <a:rPr lang="en-US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MV team - Beneficiary Experience</a:t>
            </a:r>
            <a:r>
              <a:rPr lang="ar-SA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 - </a:t>
            </a:r>
            <a:r>
              <a:rPr lang="en-US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MV team - Safety and Security</a:t>
            </a:r>
            <a:r>
              <a:rPr lang="ar-SA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 - </a:t>
            </a:r>
            <a:r>
              <a:rPr lang="en-US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 MV team Infection Control</a:t>
            </a:r>
            <a:r>
              <a:rPr lang="ar-SA" b="1" i="0" dirty="0">
                <a:solidFill>
                  <a:srgbClr val="1F1F1F"/>
                </a:solidFill>
                <a:effectLst/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)</a:t>
            </a:r>
            <a:endParaRPr lang="ar-SA" b="1" dirty="0">
              <a:latin typeface="A Jannat LT" panose="01000000000000000000" pitchFamily="2" charset="-78"/>
              <a:cs typeface="A Jannat LT" panose="01000000000000000000" pitchFamily="2" charset="-78"/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D032FB2F-AF97-F65F-B783-39318AD22DD2}"/>
              </a:ext>
            </a:extLst>
          </p:cNvPr>
          <p:cNvSpPr txBox="1"/>
          <p:nvPr/>
        </p:nvSpPr>
        <p:spPr>
          <a:xfrm>
            <a:off x="5467706" y="5418498"/>
            <a:ext cx="498528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>
                <a:solidFill>
                  <a:srgbClr val="008654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 </a:t>
            </a:r>
            <a:r>
              <a:rPr lang="ar-SA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التاريخ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   </a:t>
            </a:r>
            <a:r>
              <a:rPr lang="en-US" b="1" dirty="0">
                <a:solidFill>
                  <a:schemeClr val="tx1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DD/MM/20YY </a:t>
            </a:r>
            <a:r>
              <a:rPr lang="ar-SA" b="1" dirty="0">
                <a:solidFill>
                  <a:schemeClr val="tx1"/>
                </a:solidFill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</a:rPr>
              <a:t>باللون الاسود</a:t>
            </a:r>
            <a:endParaRPr lang="ar-SA" b="1" dirty="0"/>
          </a:p>
        </p:txBody>
      </p:sp>
      <p:pic>
        <p:nvPicPr>
          <p:cNvPr id="9" name="Google Shape;113;p15">
            <a:extLst>
              <a:ext uri="{FF2B5EF4-FFF2-40B4-BE49-F238E27FC236}">
                <a16:creationId xmlns:a16="http://schemas.microsoft.com/office/drawing/2014/main" id="{06C9A5E5-A202-CA38-57DB-A8456E9C7502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452995" y="3534026"/>
            <a:ext cx="537825" cy="683175"/>
          </a:xfrm>
          <a:prstGeom prst="rect">
            <a:avLst/>
          </a:prstGeom>
        </p:spPr>
      </p:pic>
      <p:pic>
        <p:nvPicPr>
          <p:cNvPr id="12" name="Google Shape;113;p15">
            <a:extLst>
              <a:ext uri="{FF2B5EF4-FFF2-40B4-BE49-F238E27FC236}">
                <a16:creationId xmlns:a16="http://schemas.microsoft.com/office/drawing/2014/main" id="{8CCC75B5-9C60-62D7-DD84-BECC4998EA3C}"/>
              </a:ext>
            </a:extLst>
          </p:cNvPr>
          <p:cNvPicPr preferRelativeResize="0"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511" b="89362" l="6757" r="91892">
                        <a14:foregroundMark x1="14865" y1="45745" x2="14865" y2="45745"/>
                        <a14:foregroundMark x1="13514" y1="28723" x2="13514" y2="28723"/>
                        <a14:foregroundMark x1="31081" y1="22340" x2="31081" y2="22340"/>
                        <a14:foregroundMark x1="13514" y1="63830" x2="13514" y2="63830"/>
                        <a14:foregroundMark x1="6757" y1="56383" x2="6757" y2="56383"/>
                        <a14:foregroundMark x1="17568" y1="73404" x2="17568" y2="73404"/>
                        <a14:foregroundMark x1="13514" y1="71277" x2="13514" y2="71277"/>
                        <a14:foregroundMark x1="21622" y1="15957" x2="21622" y2="15957"/>
                        <a14:foregroundMark x1="91892" y1="79787" x2="91892" y2="797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8841" y="5275373"/>
            <a:ext cx="537825" cy="683175"/>
          </a:xfrm>
          <a:prstGeom prst="rect">
            <a:avLst/>
          </a:prstGeom>
        </p:spPr>
      </p:pic>
      <p:pic>
        <p:nvPicPr>
          <p:cNvPr id="13" name="Google Shape;113;p15">
            <a:extLst>
              <a:ext uri="{FF2B5EF4-FFF2-40B4-BE49-F238E27FC236}">
                <a16:creationId xmlns:a16="http://schemas.microsoft.com/office/drawing/2014/main" id="{0B5A264A-BBCA-663C-EEE9-391B51ABCF90}"/>
              </a:ext>
            </a:extLst>
          </p:cNvPr>
          <p:cNvPicPr preferRelativeResize="0"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511" b="89362" l="6757" r="91892">
                        <a14:foregroundMark x1="14865" y1="45745" x2="14865" y2="45745"/>
                        <a14:foregroundMark x1="13514" y1="28723" x2="13514" y2="28723"/>
                        <a14:foregroundMark x1="31081" y1="22340" x2="31081" y2="22340"/>
                        <a14:foregroundMark x1="13514" y1="63830" x2="13514" y2="63830"/>
                        <a14:foregroundMark x1="6757" y1="56383" x2="6757" y2="56383"/>
                        <a14:foregroundMark x1="17568" y1="73404" x2="17568" y2="73404"/>
                        <a14:foregroundMark x1="13514" y1="71277" x2="13514" y2="71277"/>
                        <a14:foregroundMark x1="21622" y1="15957" x2="21622" y2="15957"/>
                        <a14:foregroundMark x1="91892" y1="79787" x2="91892" y2="797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8840" y="4458015"/>
            <a:ext cx="537825" cy="6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4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5D2C-96CA-D010-7D6B-1A766E3E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13">
            <a:extLst>
              <a:ext uri="{FF2B5EF4-FFF2-40B4-BE49-F238E27FC236}">
                <a16:creationId xmlns:a16="http://schemas.microsoft.com/office/drawing/2014/main" id="{B58B635B-AF2F-BC9E-27A1-A2C4CD2060EB}"/>
              </a:ext>
            </a:extLst>
          </p:cNvPr>
          <p:cNvSpPr txBox="1"/>
          <p:nvPr/>
        </p:nvSpPr>
        <p:spPr>
          <a:xfrm>
            <a:off x="6594581" y="1169439"/>
            <a:ext cx="541373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ar-SA"/>
            </a:defPPr>
            <a:lvl1pPr algn="ctr">
              <a:lnSpc>
                <a:spcPct val="200000"/>
              </a:lnSpc>
              <a:buClr>
                <a:srgbClr val="018755"/>
              </a:buClr>
              <a:buSzPts val="2800"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</a:defRPr>
            </a:lvl1pPr>
          </a:lstStyle>
          <a:p>
            <a:r>
              <a:rPr lang="ar-SA" dirty="0">
                <a:sym typeface="Arial"/>
              </a:rPr>
              <a:t>الملاحظة : </a:t>
            </a:r>
            <a:r>
              <a:rPr lang="ar-SA" dirty="0">
                <a:solidFill>
                  <a:schemeClr val="tx1"/>
                </a:solidFill>
                <a:sym typeface="Arial"/>
              </a:rPr>
              <a:t>الملاحظة باللون الأسود </a:t>
            </a:r>
            <a:endParaRPr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95;p13">
            <a:extLst>
              <a:ext uri="{FF2B5EF4-FFF2-40B4-BE49-F238E27FC236}">
                <a16:creationId xmlns:a16="http://schemas.microsoft.com/office/drawing/2014/main" id="{5FB8E970-42B9-AFF6-7F35-F80CD79C5253}"/>
              </a:ext>
            </a:extLst>
          </p:cNvPr>
          <p:cNvSpPr txBox="1"/>
          <p:nvPr/>
        </p:nvSpPr>
        <p:spPr>
          <a:xfrm>
            <a:off x="5873961" y="3225892"/>
            <a:ext cx="534921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: </a:t>
            </a:r>
            <a:r>
              <a:rPr lang="ar-SA" sz="2000" b="1" dirty="0"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باللون الأسود </a:t>
            </a:r>
            <a:endParaRPr sz="2000" b="1" dirty="0">
              <a:latin typeface="A Jannat LT" panose="01000000000000000000" pitchFamily="2" charset="-78"/>
              <a:cs typeface="A Jannat LT" panose="01000000000000000000" pitchFamily="2" charset="-78"/>
              <a:sym typeface="Arial"/>
            </a:endParaRPr>
          </a:p>
        </p:txBody>
      </p:sp>
      <p:pic>
        <p:nvPicPr>
          <p:cNvPr id="8" name="Google Shape;113;p15">
            <a:extLst>
              <a:ext uri="{FF2B5EF4-FFF2-40B4-BE49-F238E27FC236}">
                <a16:creationId xmlns:a16="http://schemas.microsoft.com/office/drawing/2014/main" id="{CAF5B687-7394-484C-7312-7BE67C00870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3304822"/>
            <a:ext cx="537825" cy="6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3;p15">
            <a:extLst>
              <a:ext uri="{FF2B5EF4-FFF2-40B4-BE49-F238E27FC236}">
                <a16:creationId xmlns:a16="http://schemas.microsoft.com/office/drawing/2014/main" id="{CC34E2CD-BFE2-7744-43A0-C69B0DC19AC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1223699"/>
            <a:ext cx="537825" cy="6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5;p13">
            <a:extLst>
              <a:ext uri="{FF2B5EF4-FFF2-40B4-BE49-F238E27FC236}">
                <a16:creationId xmlns:a16="http://schemas.microsoft.com/office/drawing/2014/main" id="{F168FEC1-AF07-52DB-391F-C709DE573DEE}"/>
              </a:ext>
            </a:extLst>
          </p:cNvPr>
          <p:cNvSpPr txBox="1"/>
          <p:nvPr/>
        </p:nvSpPr>
        <p:spPr>
          <a:xfrm>
            <a:off x="1231276" y="2001134"/>
            <a:ext cx="245352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i="0" u="none" strike="noStrike" cap="none" dirty="0"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" يتم إضافة اثبات للملاحظة هنا " </a:t>
            </a:r>
            <a:endParaRPr sz="2000" b="1" i="0" u="none" strike="noStrike" cap="none" dirty="0">
              <a:solidFill>
                <a:srgbClr val="FF0000"/>
              </a:solidFill>
              <a:latin typeface="A Jannat LT" panose="01000000000000000000" pitchFamily="2" charset="-78"/>
              <a:ea typeface="GE SS Unique Bold" panose="020A0503020102020204" pitchFamily="18" charset="-78"/>
              <a:cs typeface="A Jannat LT" panose="01000000000000000000" pitchFamily="2" charset="-7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158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EACF-F3BE-294F-B86F-9A31BC34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13">
            <a:extLst>
              <a:ext uri="{FF2B5EF4-FFF2-40B4-BE49-F238E27FC236}">
                <a16:creationId xmlns:a16="http://schemas.microsoft.com/office/drawing/2014/main" id="{6852B1C9-8C5C-7FE8-241D-1596EC162000}"/>
              </a:ext>
            </a:extLst>
          </p:cNvPr>
          <p:cNvSpPr txBox="1"/>
          <p:nvPr/>
        </p:nvSpPr>
        <p:spPr>
          <a:xfrm>
            <a:off x="6594581" y="1169439"/>
            <a:ext cx="541373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ar-SA"/>
            </a:defPPr>
            <a:lvl1pPr algn="ctr">
              <a:lnSpc>
                <a:spcPct val="200000"/>
              </a:lnSpc>
              <a:buClr>
                <a:srgbClr val="018755"/>
              </a:buClr>
              <a:buSzPts val="2800"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</a:defRPr>
            </a:lvl1pPr>
          </a:lstStyle>
          <a:p>
            <a:r>
              <a:rPr lang="ar-SA" dirty="0">
                <a:sym typeface="Arial"/>
              </a:rPr>
              <a:t>الملاحظة : </a:t>
            </a:r>
            <a:r>
              <a:rPr lang="ar-SA" dirty="0">
                <a:solidFill>
                  <a:schemeClr val="tx1"/>
                </a:solidFill>
                <a:sym typeface="Arial"/>
              </a:rPr>
              <a:t>الملاحظة باللون الأسود </a:t>
            </a:r>
            <a:endParaRPr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95;p13">
            <a:extLst>
              <a:ext uri="{FF2B5EF4-FFF2-40B4-BE49-F238E27FC236}">
                <a16:creationId xmlns:a16="http://schemas.microsoft.com/office/drawing/2014/main" id="{F5971B95-6CF5-2D36-DF2C-BEE606A532BB}"/>
              </a:ext>
            </a:extLst>
          </p:cNvPr>
          <p:cNvSpPr txBox="1"/>
          <p:nvPr/>
        </p:nvSpPr>
        <p:spPr>
          <a:xfrm>
            <a:off x="5873961" y="3225892"/>
            <a:ext cx="534921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: </a:t>
            </a:r>
            <a:r>
              <a:rPr lang="ar-SA" sz="2000" b="1" dirty="0"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باللون الأسود </a:t>
            </a:r>
            <a:endParaRPr sz="2000" b="1" dirty="0">
              <a:latin typeface="A Jannat LT" panose="01000000000000000000" pitchFamily="2" charset="-78"/>
              <a:cs typeface="A Jannat LT" panose="01000000000000000000" pitchFamily="2" charset="-78"/>
              <a:sym typeface="Arial"/>
            </a:endParaRPr>
          </a:p>
        </p:txBody>
      </p:sp>
      <p:pic>
        <p:nvPicPr>
          <p:cNvPr id="8" name="Google Shape;113;p15">
            <a:extLst>
              <a:ext uri="{FF2B5EF4-FFF2-40B4-BE49-F238E27FC236}">
                <a16:creationId xmlns:a16="http://schemas.microsoft.com/office/drawing/2014/main" id="{1B59EAE1-6912-CC19-7761-FBF95BB563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3304822"/>
            <a:ext cx="537825" cy="6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3;p15">
            <a:extLst>
              <a:ext uri="{FF2B5EF4-FFF2-40B4-BE49-F238E27FC236}">
                <a16:creationId xmlns:a16="http://schemas.microsoft.com/office/drawing/2014/main" id="{B57FADD4-30CE-0DBE-9622-53C2AD3F18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1223699"/>
            <a:ext cx="537825" cy="6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5;p13">
            <a:extLst>
              <a:ext uri="{FF2B5EF4-FFF2-40B4-BE49-F238E27FC236}">
                <a16:creationId xmlns:a16="http://schemas.microsoft.com/office/drawing/2014/main" id="{53C2EC67-EE15-F3F2-6D81-029736D6F2B0}"/>
              </a:ext>
            </a:extLst>
          </p:cNvPr>
          <p:cNvSpPr txBox="1"/>
          <p:nvPr/>
        </p:nvSpPr>
        <p:spPr>
          <a:xfrm>
            <a:off x="1231276" y="2001134"/>
            <a:ext cx="245352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i="0" u="none" strike="noStrike" cap="none" dirty="0"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" يتم إضافة اثبات للملاحظة هنا " </a:t>
            </a:r>
            <a:endParaRPr sz="2000" b="1" i="0" u="none" strike="noStrike" cap="none" dirty="0">
              <a:solidFill>
                <a:srgbClr val="FF0000"/>
              </a:solidFill>
              <a:latin typeface="A Jannat LT" panose="01000000000000000000" pitchFamily="2" charset="-78"/>
              <a:ea typeface="GE SS Unique Bold" panose="020A0503020102020204" pitchFamily="18" charset="-78"/>
              <a:cs typeface="A Jannat LT" panose="01000000000000000000" pitchFamily="2" charset="-7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000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8537-02D7-E2C8-DA16-C7313FCD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13">
            <a:extLst>
              <a:ext uri="{FF2B5EF4-FFF2-40B4-BE49-F238E27FC236}">
                <a16:creationId xmlns:a16="http://schemas.microsoft.com/office/drawing/2014/main" id="{774FF0FE-77C8-76C1-ABE2-5F66A4B00500}"/>
              </a:ext>
            </a:extLst>
          </p:cNvPr>
          <p:cNvSpPr txBox="1"/>
          <p:nvPr/>
        </p:nvSpPr>
        <p:spPr>
          <a:xfrm>
            <a:off x="6594581" y="1169439"/>
            <a:ext cx="541373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ar-SA"/>
            </a:defPPr>
            <a:lvl1pPr algn="ctr">
              <a:lnSpc>
                <a:spcPct val="200000"/>
              </a:lnSpc>
              <a:buClr>
                <a:srgbClr val="018755"/>
              </a:buClr>
              <a:buSzPts val="2800"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</a:defRPr>
            </a:lvl1pPr>
          </a:lstStyle>
          <a:p>
            <a:r>
              <a:rPr lang="ar-SA" dirty="0">
                <a:sym typeface="Arial"/>
              </a:rPr>
              <a:t>الملاحظة : </a:t>
            </a:r>
            <a:r>
              <a:rPr lang="ar-SA" dirty="0">
                <a:solidFill>
                  <a:schemeClr val="tx1"/>
                </a:solidFill>
                <a:sym typeface="Arial"/>
              </a:rPr>
              <a:t>الملاحظة باللون الأسود </a:t>
            </a:r>
            <a:endParaRPr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95;p13">
            <a:extLst>
              <a:ext uri="{FF2B5EF4-FFF2-40B4-BE49-F238E27FC236}">
                <a16:creationId xmlns:a16="http://schemas.microsoft.com/office/drawing/2014/main" id="{0A0FC7D0-46C9-D0A7-1251-A649785A693B}"/>
              </a:ext>
            </a:extLst>
          </p:cNvPr>
          <p:cNvSpPr txBox="1"/>
          <p:nvPr/>
        </p:nvSpPr>
        <p:spPr>
          <a:xfrm>
            <a:off x="5873961" y="3225892"/>
            <a:ext cx="534921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: </a:t>
            </a:r>
            <a:r>
              <a:rPr lang="ar-SA" sz="2000" b="1" dirty="0">
                <a:latin typeface="A Jannat LT" panose="01000000000000000000" pitchFamily="2" charset="-78"/>
                <a:cs typeface="A Jannat LT" panose="01000000000000000000" pitchFamily="2" charset="-78"/>
                <a:sym typeface="Arial"/>
              </a:rPr>
              <a:t>الاجراء التصحيحي باللون الأسود </a:t>
            </a:r>
            <a:endParaRPr sz="2000" b="1" dirty="0">
              <a:latin typeface="A Jannat LT" panose="01000000000000000000" pitchFamily="2" charset="-78"/>
              <a:cs typeface="A Jannat LT" panose="01000000000000000000" pitchFamily="2" charset="-78"/>
              <a:sym typeface="Arial"/>
            </a:endParaRPr>
          </a:p>
        </p:txBody>
      </p:sp>
      <p:pic>
        <p:nvPicPr>
          <p:cNvPr id="8" name="Google Shape;113;p15">
            <a:extLst>
              <a:ext uri="{FF2B5EF4-FFF2-40B4-BE49-F238E27FC236}">
                <a16:creationId xmlns:a16="http://schemas.microsoft.com/office/drawing/2014/main" id="{74A89951-0439-192F-9946-E8E4E29C84C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3304822"/>
            <a:ext cx="537825" cy="6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3;p15">
            <a:extLst>
              <a:ext uri="{FF2B5EF4-FFF2-40B4-BE49-F238E27FC236}">
                <a16:creationId xmlns:a16="http://schemas.microsoft.com/office/drawing/2014/main" id="{4CEDB387-B4F7-9F58-04D9-95E35F759E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3174" y="1223699"/>
            <a:ext cx="537825" cy="6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5;p13">
            <a:extLst>
              <a:ext uri="{FF2B5EF4-FFF2-40B4-BE49-F238E27FC236}">
                <a16:creationId xmlns:a16="http://schemas.microsoft.com/office/drawing/2014/main" id="{3BD5B9B7-134C-80D3-3070-8CAECF28405C}"/>
              </a:ext>
            </a:extLst>
          </p:cNvPr>
          <p:cNvSpPr txBox="1"/>
          <p:nvPr/>
        </p:nvSpPr>
        <p:spPr>
          <a:xfrm>
            <a:off x="1231276" y="2001134"/>
            <a:ext cx="245352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rtl="1">
              <a:lnSpc>
                <a:spcPct val="200000"/>
              </a:lnSpc>
              <a:buClr>
                <a:srgbClr val="018755"/>
              </a:buClr>
              <a:buSzPts val="2800"/>
            </a:pPr>
            <a:r>
              <a:rPr lang="ar-SA" sz="2000" b="1" i="0" u="none" strike="noStrike" cap="none" dirty="0">
                <a:latin typeface="A Jannat LT" panose="01000000000000000000" pitchFamily="2" charset="-78"/>
                <a:ea typeface="GE SS Unique Bold" panose="020A0503020102020204" pitchFamily="18" charset="-78"/>
                <a:cs typeface="A Jannat LT" panose="01000000000000000000" pitchFamily="2" charset="-78"/>
                <a:sym typeface="Arial"/>
              </a:rPr>
              <a:t>" يتم إضافة اثبات للملاحظة هنا " </a:t>
            </a:r>
            <a:endParaRPr sz="2000" b="1" i="0" u="none" strike="noStrike" cap="none" dirty="0">
              <a:solidFill>
                <a:srgbClr val="FF0000"/>
              </a:solidFill>
              <a:latin typeface="A Jannat LT" panose="01000000000000000000" pitchFamily="2" charset="-78"/>
              <a:ea typeface="GE SS Unique Bold" panose="020A0503020102020204" pitchFamily="18" charset="-78"/>
              <a:cs typeface="A Jannat LT" panose="01000000000000000000" pitchFamily="2" charset="-7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52546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230</Words>
  <Application>Microsoft Office PowerPoint</Application>
  <PresentationFormat>شاشة عريضة</PresentationFormat>
  <Paragraphs>22</Paragraphs>
  <Slides>5</Slides>
  <Notes>0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1" baseType="lpstr">
      <vt:lpstr>A Jannat LT</vt:lpstr>
      <vt:lpstr>Arial</vt:lpstr>
      <vt:lpstr>Calibri</vt:lpstr>
      <vt:lpstr>Calibri Light</vt:lpstr>
      <vt:lpstr>نسق Office</vt:lpstr>
      <vt:lpstr>Packager Shell Object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Microsoft Office User</dc:creator>
  <cp:lastModifiedBy>رياض الأحمري ID 447910715</cp:lastModifiedBy>
  <cp:revision>3</cp:revision>
  <dcterms:created xsi:type="dcterms:W3CDTF">2025-06-24T08:35:51Z</dcterms:created>
  <dcterms:modified xsi:type="dcterms:W3CDTF">2025-08-25T10:06:50Z</dcterms:modified>
</cp:coreProperties>
</file>